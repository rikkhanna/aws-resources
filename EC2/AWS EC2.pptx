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28" autoAdjust="0"/>
    <p:restoredTop sz="94660"/>
  </p:normalViewPr>
  <p:slideViewPr>
    <p:cSldViewPr snapToGrid="0">
      <p:cViewPr>
        <p:scale>
          <a:sx n="70" d="100"/>
          <a:sy n="70" d="100"/>
        </p:scale>
        <p:origin x="94"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CE051-9B60-426C-A4A2-48939A75E0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433336D-9244-4160-BCAD-FF93964B8C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A77F58A-3652-4162-8DFA-333545583DF9}"/>
              </a:ext>
            </a:extLst>
          </p:cNvPr>
          <p:cNvSpPr>
            <a:spLocks noGrp="1"/>
          </p:cNvSpPr>
          <p:nvPr>
            <p:ph type="dt" sz="half" idx="10"/>
          </p:nvPr>
        </p:nvSpPr>
        <p:spPr/>
        <p:txBody>
          <a:bodyPr/>
          <a:lstStyle/>
          <a:p>
            <a:fld id="{D87F849A-B044-4CFA-AF91-68A57D6732CA}" type="datetimeFigureOut">
              <a:rPr lang="en-IN" smtClean="0"/>
              <a:t>03-12-2020</a:t>
            </a:fld>
            <a:endParaRPr lang="en-IN"/>
          </a:p>
        </p:txBody>
      </p:sp>
      <p:sp>
        <p:nvSpPr>
          <p:cNvPr id="5" name="Footer Placeholder 4">
            <a:extLst>
              <a:ext uri="{FF2B5EF4-FFF2-40B4-BE49-F238E27FC236}">
                <a16:creationId xmlns:a16="http://schemas.microsoft.com/office/drawing/2014/main" id="{030B3037-2CAD-4143-BD18-3B3D9B249D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DE909F4-625A-45AA-B396-8421FB522450}"/>
              </a:ext>
            </a:extLst>
          </p:cNvPr>
          <p:cNvSpPr>
            <a:spLocks noGrp="1"/>
          </p:cNvSpPr>
          <p:nvPr>
            <p:ph type="sldNum" sz="quarter" idx="12"/>
          </p:nvPr>
        </p:nvSpPr>
        <p:spPr/>
        <p:txBody>
          <a:bodyPr/>
          <a:lstStyle/>
          <a:p>
            <a:fld id="{5A446879-CACE-43F3-8D4C-A14C934F8E3C}" type="slidenum">
              <a:rPr lang="en-IN" smtClean="0"/>
              <a:t>‹#›</a:t>
            </a:fld>
            <a:endParaRPr lang="en-IN"/>
          </a:p>
        </p:txBody>
      </p:sp>
    </p:spTree>
    <p:extLst>
      <p:ext uri="{BB962C8B-B14F-4D97-AF65-F5344CB8AC3E}">
        <p14:creationId xmlns:p14="http://schemas.microsoft.com/office/powerpoint/2010/main" val="1135273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0ED9C-721C-4797-9557-0D70C60AA82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593EFA2-00CB-48C7-83CF-A7321DF185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6D19BF-D119-4E7F-88F6-42B488C79BD9}"/>
              </a:ext>
            </a:extLst>
          </p:cNvPr>
          <p:cNvSpPr>
            <a:spLocks noGrp="1"/>
          </p:cNvSpPr>
          <p:nvPr>
            <p:ph type="dt" sz="half" idx="10"/>
          </p:nvPr>
        </p:nvSpPr>
        <p:spPr/>
        <p:txBody>
          <a:bodyPr/>
          <a:lstStyle/>
          <a:p>
            <a:fld id="{D87F849A-B044-4CFA-AF91-68A57D6732CA}" type="datetimeFigureOut">
              <a:rPr lang="en-IN" smtClean="0"/>
              <a:t>03-12-2020</a:t>
            </a:fld>
            <a:endParaRPr lang="en-IN"/>
          </a:p>
        </p:txBody>
      </p:sp>
      <p:sp>
        <p:nvSpPr>
          <p:cNvPr id="5" name="Footer Placeholder 4">
            <a:extLst>
              <a:ext uri="{FF2B5EF4-FFF2-40B4-BE49-F238E27FC236}">
                <a16:creationId xmlns:a16="http://schemas.microsoft.com/office/drawing/2014/main" id="{7F6FA93F-D1C6-45B1-B5B1-1ED315FC37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114916-667A-4654-B4A5-1D4FBA1CDF55}"/>
              </a:ext>
            </a:extLst>
          </p:cNvPr>
          <p:cNvSpPr>
            <a:spLocks noGrp="1"/>
          </p:cNvSpPr>
          <p:nvPr>
            <p:ph type="sldNum" sz="quarter" idx="12"/>
          </p:nvPr>
        </p:nvSpPr>
        <p:spPr/>
        <p:txBody>
          <a:bodyPr/>
          <a:lstStyle/>
          <a:p>
            <a:fld id="{5A446879-CACE-43F3-8D4C-A14C934F8E3C}" type="slidenum">
              <a:rPr lang="en-IN" smtClean="0"/>
              <a:t>‹#›</a:t>
            </a:fld>
            <a:endParaRPr lang="en-IN"/>
          </a:p>
        </p:txBody>
      </p:sp>
    </p:spTree>
    <p:extLst>
      <p:ext uri="{BB962C8B-B14F-4D97-AF65-F5344CB8AC3E}">
        <p14:creationId xmlns:p14="http://schemas.microsoft.com/office/powerpoint/2010/main" val="28439754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545E6-0FC5-461B-8F35-7DE16E37F5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6DB69C2-ED00-470C-8135-153469A1B7F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70AFBD5-216E-4C39-BABF-C1AD644BE6BE}"/>
              </a:ext>
            </a:extLst>
          </p:cNvPr>
          <p:cNvSpPr>
            <a:spLocks noGrp="1"/>
          </p:cNvSpPr>
          <p:nvPr>
            <p:ph type="dt" sz="half" idx="10"/>
          </p:nvPr>
        </p:nvSpPr>
        <p:spPr/>
        <p:txBody>
          <a:bodyPr/>
          <a:lstStyle/>
          <a:p>
            <a:fld id="{D87F849A-B044-4CFA-AF91-68A57D6732CA}" type="datetimeFigureOut">
              <a:rPr lang="en-IN" smtClean="0"/>
              <a:t>03-12-2020</a:t>
            </a:fld>
            <a:endParaRPr lang="en-IN"/>
          </a:p>
        </p:txBody>
      </p:sp>
      <p:sp>
        <p:nvSpPr>
          <p:cNvPr id="5" name="Footer Placeholder 4">
            <a:extLst>
              <a:ext uri="{FF2B5EF4-FFF2-40B4-BE49-F238E27FC236}">
                <a16:creationId xmlns:a16="http://schemas.microsoft.com/office/drawing/2014/main" id="{54247BCF-67DF-4593-B129-BE80BB029F9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1C571D-4E9B-416B-82D1-2AD19FEBC913}"/>
              </a:ext>
            </a:extLst>
          </p:cNvPr>
          <p:cNvSpPr>
            <a:spLocks noGrp="1"/>
          </p:cNvSpPr>
          <p:nvPr>
            <p:ph type="sldNum" sz="quarter" idx="12"/>
          </p:nvPr>
        </p:nvSpPr>
        <p:spPr/>
        <p:txBody>
          <a:bodyPr/>
          <a:lstStyle/>
          <a:p>
            <a:fld id="{5A446879-CACE-43F3-8D4C-A14C934F8E3C}" type="slidenum">
              <a:rPr lang="en-IN" smtClean="0"/>
              <a:t>‹#›</a:t>
            </a:fld>
            <a:endParaRPr lang="en-IN"/>
          </a:p>
        </p:txBody>
      </p:sp>
    </p:spTree>
    <p:extLst>
      <p:ext uri="{BB962C8B-B14F-4D97-AF65-F5344CB8AC3E}">
        <p14:creationId xmlns:p14="http://schemas.microsoft.com/office/powerpoint/2010/main" val="2991136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74F6E-F831-4FC9-8C83-4555614C250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D25A423-2418-4171-9594-92D34B92C53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2DD7C33-EE89-4D1D-837F-CBDB316FA5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2DBA25E-CDC2-42DF-AFD6-531338C8C38F}"/>
              </a:ext>
            </a:extLst>
          </p:cNvPr>
          <p:cNvSpPr>
            <a:spLocks noGrp="1"/>
          </p:cNvSpPr>
          <p:nvPr>
            <p:ph type="dt" sz="half" idx="10"/>
          </p:nvPr>
        </p:nvSpPr>
        <p:spPr/>
        <p:txBody>
          <a:bodyPr/>
          <a:lstStyle/>
          <a:p>
            <a:fld id="{D87F849A-B044-4CFA-AF91-68A57D6732CA}" type="datetimeFigureOut">
              <a:rPr lang="en-IN" smtClean="0"/>
              <a:t>03-12-2020</a:t>
            </a:fld>
            <a:endParaRPr lang="en-IN"/>
          </a:p>
        </p:txBody>
      </p:sp>
      <p:sp>
        <p:nvSpPr>
          <p:cNvPr id="6" name="Footer Placeholder 5">
            <a:extLst>
              <a:ext uri="{FF2B5EF4-FFF2-40B4-BE49-F238E27FC236}">
                <a16:creationId xmlns:a16="http://schemas.microsoft.com/office/drawing/2014/main" id="{E1A86A7C-45D4-458A-94EB-A65D16079DB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DED6ADF-2EA2-40A4-9CEF-59CB61DECD94}"/>
              </a:ext>
            </a:extLst>
          </p:cNvPr>
          <p:cNvSpPr>
            <a:spLocks noGrp="1"/>
          </p:cNvSpPr>
          <p:nvPr>
            <p:ph type="sldNum" sz="quarter" idx="12"/>
          </p:nvPr>
        </p:nvSpPr>
        <p:spPr/>
        <p:txBody>
          <a:bodyPr/>
          <a:lstStyle/>
          <a:p>
            <a:fld id="{5A446879-CACE-43F3-8D4C-A14C934F8E3C}" type="slidenum">
              <a:rPr lang="en-IN" smtClean="0"/>
              <a:t>‹#›</a:t>
            </a:fld>
            <a:endParaRPr lang="en-IN"/>
          </a:p>
        </p:txBody>
      </p:sp>
    </p:spTree>
    <p:extLst>
      <p:ext uri="{BB962C8B-B14F-4D97-AF65-F5344CB8AC3E}">
        <p14:creationId xmlns:p14="http://schemas.microsoft.com/office/powerpoint/2010/main" val="31133836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F172A-B5FA-485D-B206-F905A0A6777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4B15DBA-C40C-48BD-83DD-DF49E45E52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94369BE-56F4-4E16-9793-2B9C1C5B8B1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92905A8-A7C4-44B1-99C1-CDE2DE58F1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79137C9-4E83-4F41-AC95-4C51C678428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D3D557E-0C23-4C93-9393-8F3353E3E320}"/>
              </a:ext>
            </a:extLst>
          </p:cNvPr>
          <p:cNvSpPr>
            <a:spLocks noGrp="1"/>
          </p:cNvSpPr>
          <p:nvPr>
            <p:ph type="dt" sz="half" idx="10"/>
          </p:nvPr>
        </p:nvSpPr>
        <p:spPr/>
        <p:txBody>
          <a:bodyPr/>
          <a:lstStyle/>
          <a:p>
            <a:fld id="{D87F849A-B044-4CFA-AF91-68A57D6732CA}" type="datetimeFigureOut">
              <a:rPr lang="en-IN" smtClean="0"/>
              <a:t>03-12-2020</a:t>
            </a:fld>
            <a:endParaRPr lang="en-IN"/>
          </a:p>
        </p:txBody>
      </p:sp>
      <p:sp>
        <p:nvSpPr>
          <p:cNvPr id="8" name="Footer Placeholder 7">
            <a:extLst>
              <a:ext uri="{FF2B5EF4-FFF2-40B4-BE49-F238E27FC236}">
                <a16:creationId xmlns:a16="http://schemas.microsoft.com/office/drawing/2014/main" id="{44DAFBFA-5DDE-49F2-9DE6-7DB5E9AECD4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BB5F247-6D09-416B-B404-C7CDD6244DEC}"/>
              </a:ext>
            </a:extLst>
          </p:cNvPr>
          <p:cNvSpPr>
            <a:spLocks noGrp="1"/>
          </p:cNvSpPr>
          <p:nvPr>
            <p:ph type="sldNum" sz="quarter" idx="12"/>
          </p:nvPr>
        </p:nvSpPr>
        <p:spPr/>
        <p:txBody>
          <a:bodyPr/>
          <a:lstStyle/>
          <a:p>
            <a:fld id="{5A446879-CACE-43F3-8D4C-A14C934F8E3C}" type="slidenum">
              <a:rPr lang="en-IN" smtClean="0"/>
              <a:t>‹#›</a:t>
            </a:fld>
            <a:endParaRPr lang="en-IN"/>
          </a:p>
        </p:txBody>
      </p:sp>
    </p:spTree>
    <p:extLst>
      <p:ext uri="{BB962C8B-B14F-4D97-AF65-F5344CB8AC3E}">
        <p14:creationId xmlns:p14="http://schemas.microsoft.com/office/powerpoint/2010/main" val="22381286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8C26A-1685-4406-A6CD-8270B041EAD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CAB9522-151B-4142-A9D8-8B741DFF752B}"/>
              </a:ext>
            </a:extLst>
          </p:cNvPr>
          <p:cNvSpPr>
            <a:spLocks noGrp="1"/>
          </p:cNvSpPr>
          <p:nvPr>
            <p:ph type="dt" sz="half" idx="10"/>
          </p:nvPr>
        </p:nvSpPr>
        <p:spPr/>
        <p:txBody>
          <a:bodyPr/>
          <a:lstStyle/>
          <a:p>
            <a:fld id="{D87F849A-B044-4CFA-AF91-68A57D6732CA}" type="datetimeFigureOut">
              <a:rPr lang="en-IN" smtClean="0"/>
              <a:t>03-12-2020</a:t>
            </a:fld>
            <a:endParaRPr lang="en-IN"/>
          </a:p>
        </p:txBody>
      </p:sp>
      <p:sp>
        <p:nvSpPr>
          <p:cNvPr id="4" name="Footer Placeholder 3">
            <a:extLst>
              <a:ext uri="{FF2B5EF4-FFF2-40B4-BE49-F238E27FC236}">
                <a16:creationId xmlns:a16="http://schemas.microsoft.com/office/drawing/2014/main" id="{F40058FC-24A7-4049-8FB5-BF6EE62A7B6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4B8531A-7C01-484F-9EE5-D9C766957527}"/>
              </a:ext>
            </a:extLst>
          </p:cNvPr>
          <p:cNvSpPr>
            <a:spLocks noGrp="1"/>
          </p:cNvSpPr>
          <p:nvPr>
            <p:ph type="sldNum" sz="quarter" idx="12"/>
          </p:nvPr>
        </p:nvSpPr>
        <p:spPr/>
        <p:txBody>
          <a:bodyPr/>
          <a:lstStyle/>
          <a:p>
            <a:fld id="{5A446879-CACE-43F3-8D4C-A14C934F8E3C}" type="slidenum">
              <a:rPr lang="en-IN" smtClean="0"/>
              <a:t>‹#›</a:t>
            </a:fld>
            <a:endParaRPr lang="en-IN"/>
          </a:p>
        </p:txBody>
      </p:sp>
    </p:spTree>
    <p:extLst>
      <p:ext uri="{BB962C8B-B14F-4D97-AF65-F5344CB8AC3E}">
        <p14:creationId xmlns:p14="http://schemas.microsoft.com/office/powerpoint/2010/main" val="315068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417427D-A644-4932-B1C3-6AA73153E591}"/>
              </a:ext>
            </a:extLst>
          </p:cNvPr>
          <p:cNvSpPr>
            <a:spLocks noGrp="1"/>
          </p:cNvSpPr>
          <p:nvPr>
            <p:ph type="dt" sz="half" idx="10"/>
          </p:nvPr>
        </p:nvSpPr>
        <p:spPr/>
        <p:txBody>
          <a:bodyPr/>
          <a:lstStyle/>
          <a:p>
            <a:fld id="{D87F849A-B044-4CFA-AF91-68A57D6732CA}" type="datetimeFigureOut">
              <a:rPr lang="en-IN" smtClean="0"/>
              <a:t>03-12-2020</a:t>
            </a:fld>
            <a:endParaRPr lang="en-IN"/>
          </a:p>
        </p:txBody>
      </p:sp>
      <p:sp>
        <p:nvSpPr>
          <p:cNvPr id="3" name="Footer Placeholder 2">
            <a:extLst>
              <a:ext uri="{FF2B5EF4-FFF2-40B4-BE49-F238E27FC236}">
                <a16:creationId xmlns:a16="http://schemas.microsoft.com/office/drawing/2014/main" id="{44189C2E-680B-4E9B-9FA2-67B6659865A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BC4F4EF-2A8A-4BE4-AC02-DD50B7489DC1}"/>
              </a:ext>
            </a:extLst>
          </p:cNvPr>
          <p:cNvSpPr>
            <a:spLocks noGrp="1"/>
          </p:cNvSpPr>
          <p:nvPr>
            <p:ph type="sldNum" sz="quarter" idx="12"/>
          </p:nvPr>
        </p:nvSpPr>
        <p:spPr/>
        <p:txBody>
          <a:bodyPr/>
          <a:lstStyle/>
          <a:p>
            <a:fld id="{5A446879-CACE-43F3-8D4C-A14C934F8E3C}" type="slidenum">
              <a:rPr lang="en-IN" smtClean="0"/>
              <a:t>‹#›</a:t>
            </a:fld>
            <a:endParaRPr lang="en-IN"/>
          </a:p>
        </p:txBody>
      </p:sp>
    </p:spTree>
    <p:extLst>
      <p:ext uri="{BB962C8B-B14F-4D97-AF65-F5344CB8AC3E}">
        <p14:creationId xmlns:p14="http://schemas.microsoft.com/office/powerpoint/2010/main" val="1959189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6E1E5-E02D-448A-BB26-FDCE4A4718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262A79C-E10B-450C-A560-AF4D269452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CC1936A-3D7A-4A7E-BA45-CDA7C41469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C9CD28-52C8-4033-BC3F-801C6FB8E2EB}"/>
              </a:ext>
            </a:extLst>
          </p:cNvPr>
          <p:cNvSpPr>
            <a:spLocks noGrp="1"/>
          </p:cNvSpPr>
          <p:nvPr>
            <p:ph type="dt" sz="half" idx="10"/>
          </p:nvPr>
        </p:nvSpPr>
        <p:spPr/>
        <p:txBody>
          <a:bodyPr/>
          <a:lstStyle/>
          <a:p>
            <a:fld id="{D87F849A-B044-4CFA-AF91-68A57D6732CA}" type="datetimeFigureOut">
              <a:rPr lang="en-IN" smtClean="0"/>
              <a:t>03-12-2020</a:t>
            </a:fld>
            <a:endParaRPr lang="en-IN"/>
          </a:p>
        </p:txBody>
      </p:sp>
      <p:sp>
        <p:nvSpPr>
          <p:cNvPr id="6" name="Footer Placeholder 5">
            <a:extLst>
              <a:ext uri="{FF2B5EF4-FFF2-40B4-BE49-F238E27FC236}">
                <a16:creationId xmlns:a16="http://schemas.microsoft.com/office/drawing/2014/main" id="{338C8146-16B4-45D6-9F96-CD38984FD24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067F394-9BAB-4355-813E-8F0D7E5A777C}"/>
              </a:ext>
            </a:extLst>
          </p:cNvPr>
          <p:cNvSpPr>
            <a:spLocks noGrp="1"/>
          </p:cNvSpPr>
          <p:nvPr>
            <p:ph type="sldNum" sz="quarter" idx="12"/>
          </p:nvPr>
        </p:nvSpPr>
        <p:spPr/>
        <p:txBody>
          <a:bodyPr/>
          <a:lstStyle/>
          <a:p>
            <a:fld id="{5A446879-CACE-43F3-8D4C-A14C934F8E3C}" type="slidenum">
              <a:rPr lang="en-IN" smtClean="0"/>
              <a:t>‹#›</a:t>
            </a:fld>
            <a:endParaRPr lang="en-IN"/>
          </a:p>
        </p:txBody>
      </p:sp>
    </p:spTree>
    <p:extLst>
      <p:ext uri="{BB962C8B-B14F-4D97-AF65-F5344CB8AC3E}">
        <p14:creationId xmlns:p14="http://schemas.microsoft.com/office/powerpoint/2010/main" val="6046534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14448-9E54-4C9B-96EA-4200B06CC6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E0D7B2C-ED7B-4D14-8055-2A218268AE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AF286B0-4238-42B8-AD19-63DDD876B4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95B5F4-D2F6-4565-8C8F-E03EF6D590CF}"/>
              </a:ext>
            </a:extLst>
          </p:cNvPr>
          <p:cNvSpPr>
            <a:spLocks noGrp="1"/>
          </p:cNvSpPr>
          <p:nvPr>
            <p:ph type="dt" sz="half" idx="10"/>
          </p:nvPr>
        </p:nvSpPr>
        <p:spPr/>
        <p:txBody>
          <a:bodyPr/>
          <a:lstStyle/>
          <a:p>
            <a:fld id="{D87F849A-B044-4CFA-AF91-68A57D6732CA}" type="datetimeFigureOut">
              <a:rPr lang="en-IN" smtClean="0"/>
              <a:t>03-12-2020</a:t>
            </a:fld>
            <a:endParaRPr lang="en-IN"/>
          </a:p>
        </p:txBody>
      </p:sp>
      <p:sp>
        <p:nvSpPr>
          <p:cNvPr id="6" name="Footer Placeholder 5">
            <a:extLst>
              <a:ext uri="{FF2B5EF4-FFF2-40B4-BE49-F238E27FC236}">
                <a16:creationId xmlns:a16="http://schemas.microsoft.com/office/drawing/2014/main" id="{C35DAD7B-6234-4488-AB16-AE1F18C416C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6906262-6C91-419D-9996-36B8168EE767}"/>
              </a:ext>
            </a:extLst>
          </p:cNvPr>
          <p:cNvSpPr>
            <a:spLocks noGrp="1"/>
          </p:cNvSpPr>
          <p:nvPr>
            <p:ph type="sldNum" sz="quarter" idx="12"/>
          </p:nvPr>
        </p:nvSpPr>
        <p:spPr/>
        <p:txBody>
          <a:bodyPr/>
          <a:lstStyle/>
          <a:p>
            <a:fld id="{5A446879-CACE-43F3-8D4C-A14C934F8E3C}" type="slidenum">
              <a:rPr lang="en-IN" smtClean="0"/>
              <a:t>‹#›</a:t>
            </a:fld>
            <a:endParaRPr lang="en-IN"/>
          </a:p>
        </p:txBody>
      </p:sp>
    </p:spTree>
    <p:extLst>
      <p:ext uri="{BB962C8B-B14F-4D97-AF65-F5344CB8AC3E}">
        <p14:creationId xmlns:p14="http://schemas.microsoft.com/office/powerpoint/2010/main" val="15937894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CC991-6F6B-4996-ABCB-737A8140126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BE32776-85C7-4C71-B90B-D9D87B6860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977B78-EB6F-4C08-8749-B5AB52023C47}"/>
              </a:ext>
            </a:extLst>
          </p:cNvPr>
          <p:cNvSpPr>
            <a:spLocks noGrp="1"/>
          </p:cNvSpPr>
          <p:nvPr>
            <p:ph type="dt" sz="half" idx="10"/>
          </p:nvPr>
        </p:nvSpPr>
        <p:spPr/>
        <p:txBody>
          <a:bodyPr/>
          <a:lstStyle/>
          <a:p>
            <a:fld id="{D87F849A-B044-4CFA-AF91-68A57D6732CA}" type="datetimeFigureOut">
              <a:rPr lang="en-IN" smtClean="0"/>
              <a:t>03-12-2020</a:t>
            </a:fld>
            <a:endParaRPr lang="en-IN"/>
          </a:p>
        </p:txBody>
      </p:sp>
      <p:sp>
        <p:nvSpPr>
          <p:cNvPr id="5" name="Footer Placeholder 4">
            <a:extLst>
              <a:ext uri="{FF2B5EF4-FFF2-40B4-BE49-F238E27FC236}">
                <a16:creationId xmlns:a16="http://schemas.microsoft.com/office/drawing/2014/main" id="{3A3A3EDB-D0CB-453F-8D53-EF9487A34D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DF7358-8034-45CE-B33F-14BD39CEE871}"/>
              </a:ext>
            </a:extLst>
          </p:cNvPr>
          <p:cNvSpPr>
            <a:spLocks noGrp="1"/>
          </p:cNvSpPr>
          <p:nvPr>
            <p:ph type="sldNum" sz="quarter" idx="12"/>
          </p:nvPr>
        </p:nvSpPr>
        <p:spPr/>
        <p:txBody>
          <a:bodyPr/>
          <a:lstStyle/>
          <a:p>
            <a:fld id="{5A446879-CACE-43F3-8D4C-A14C934F8E3C}" type="slidenum">
              <a:rPr lang="en-IN" smtClean="0"/>
              <a:t>‹#›</a:t>
            </a:fld>
            <a:endParaRPr lang="en-IN"/>
          </a:p>
        </p:txBody>
      </p:sp>
    </p:spTree>
    <p:extLst>
      <p:ext uri="{BB962C8B-B14F-4D97-AF65-F5344CB8AC3E}">
        <p14:creationId xmlns:p14="http://schemas.microsoft.com/office/powerpoint/2010/main" val="32541585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FB8B91-D3B0-423C-9530-915396E3BA6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7996BD3-2D8F-43E6-9F83-5593A6F26EF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B4C17B4-3BAC-47FE-924E-F08F87986E67}"/>
              </a:ext>
            </a:extLst>
          </p:cNvPr>
          <p:cNvSpPr>
            <a:spLocks noGrp="1"/>
          </p:cNvSpPr>
          <p:nvPr>
            <p:ph type="dt" sz="half" idx="10"/>
          </p:nvPr>
        </p:nvSpPr>
        <p:spPr/>
        <p:txBody>
          <a:bodyPr/>
          <a:lstStyle/>
          <a:p>
            <a:fld id="{D87F849A-B044-4CFA-AF91-68A57D6732CA}" type="datetimeFigureOut">
              <a:rPr lang="en-IN" smtClean="0"/>
              <a:t>03-12-2020</a:t>
            </a:fld>
            <a:endParaRPr lang="en-IN"/>
          </a:p>
        </p:txBody>
      </p:sp>
      <p:sp>
        <p:nvSpPr>
          <p:cNvPr id="5" name="Footer Placeholder 4">
            <a:extLst>
              <a:ext uri="{FF2B5EF4-FFF2-40B4-BE49-F238E27FC236}">
                <a16:creationId xmlns:a16="http://schemas.microsoft.com/office/drawing/2014/main" id="{8F974B9F-F16B-43C8-8A26-B556CE9EC9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7D3CBC-5478-4C52-B013-F11840497159}"/>
              </a:ext>
            </a:extLst>
          </p:cNvPr>
          <p:cNvSpPr>
            <a:spLocks noGrp="1"/>
          </p:cNvSpPr>
          <p:nvPr>
            <p:ph type="sldNum" sz="quarter" idx="12"/>
          </p:nvPr>
        </p:nvSpPr>
        <p:spPr/>
        <p:txBody>
          <a:bodyPr/>
          <a:lstStyle/>
          <a:p>
            <a:fld id="{5A446879-CACE-43F3-8D4C-A14C934F8E3C}" type="slidenum">
              <a:rPr lang="en-IN" smtClean="0"/>
              <a:t>‹#›</a:t>
            </a:fld>
            <a:endParaRPr lang="en-IN"/>
          </a:p>
        </p:txBody>
      </p:sp>
    </p:spTree>
    <p:extLst>
      <p:ext uri="{BB962C8B-B14F-4D97-AF65-F5344CB8AC3E}">
        <p14:creationId xmlns:p14="http://schemas.microsoft.com/office/powerpoint/2010/main" val="16234580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1C86E2-7EE1-457A-869D-76DF520547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DBECCC6-EA21-4810-A39C-07AC6419F1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7575CB-0146-414E-8B50-9745838D196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7F849A-B044-4CFA-AF91-68A57D6732CA}" type="datetimeFigureOut">
              <a:rPr lang="en-IN" smtClean="0"/>
              <a:t>03-12-2020</a:t>
            </a:fld>
            <a:endParaRPr lang="en-IN"/>
          </a:p>
        </p:txBody>
      </p:sp>
      <p:sp>
        <p:nvSpPr>
          <p:cNvPr id="5" name="Footer Placeholder 4">
            <a:extLst>
              <a:ext uri="{FF2B5EF4-FFF2-40B4-BE49-F238E27FC236}">
                <a16:creationId xmlns:a16="http://schemas.microsoft.com/office/drawing/2014/main" id="{D3035CEB-DF73-46F6-968C-EE37A76B0F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03F444B-1D7D-4DCA-93B0-9E04604F13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446879-CACE-43F3-8D4C-A14C934F8E3C}" type="slidenum">
              <a:rPr lang="en-IN" smtClean="0"/>
              <a:t>‹#›</a:t>
            </a:fld>
            <a:endParaRPr lang="en-IN"/>
          </a:p>
        </p:txBody>
      </p:sp>
    </p:spTree>
    <p:extLst>
      <p:ext uri="{BB962C8B-B14F-4D97-AF65-F5344CB8AC3E}">
        <p14:creationId xmlns:p14="http://schemas.microsoft.com/office/powerpoint/2010/main" val="19276122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17D0D-90CE-4E6C-9CC3-B61DC1A5A0A9}"/>
              </a:ext>
            </a:extLst>
          </p:cNvPr>
          <p:cNvSpPr>
            <a:spLocks noGrp="1"/>
          </p:cNvSpPr>
          <p:nvPr>
            <p:ph type="ctrTitle"/>
          </p:nvPr>
        </p:nvSpPr>
        <p:spPr/>
        <p:txBody>
          <a:bodyPr/>
          <a:lstStyle/>
          <a:p>
            <a:r>
              <a:rPr lang="en-IN" dirty="0"/>
              <a:t>AWS EC2</a:t>
            </a:r>
          </a:p>
        </p:txBody>
      </p:sp>
      <p:sp>
        <p:nvSpPr>
          <p:cNvPr id="3" name="Subtitle 2">
            <a:extLst>
              <a:ext uri="{FF2B5EF4-FFF2-40B4-BE49-F238E27FC236}">
                <a16:creationId xmlns:a16="http://schemas.microsoft.com/office/drawing/2014/main" id="{905220DF-C319-4915-AF5B-7C56F99A280B}"/>
              </a:ext>
            </a:extLst>
          </p:cNvPr>
          <p:cNvSpPr>
            <a:spLocks noGrp="1"/>
          </p:cNvSpPr>
          <p:nvPr>
            <p:ph type="subTitle" idx="1"/>
          </p:nvPr>
        </p:nvSpPr>
        <p:spPr/>
        <p:txBody>
          <a:bodyPr/>
          <a:lstStyle/>
          <a:p>
            <a:r>
              <a:rPr lang="en-IN" dirty="0"/>
              <a:t>BY Rishabh Khanna</a:t>
            </a:r>
          </a:p>
        </p:txBody>
      </p:sp>
    </p:spTree>
    <p:extLst>
      <p:ext uri="{BB962C8B-B14F-4D97-AF65-F5344CB8AC3E}">
        <p14:creationId xmlns:p14="http://schemas.microsoft.com/office/powerpoint/2010/main" val="32179813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FAEB8-7D0F-4570-81DC-2D025B48FF75}"/>
              </a:ext>
            </a:extLst>
          </p:cNvPr>
          <p:cNvSpPr>
            <a:spLocks noGrp="1"/>
          </p:cNvSpPr>
          <p:nvPr>
            <p:ph type="title"/>
          </p:nvPr>
        </p:nvSpPr>
        <p:spPr/>
        <p:txBody>
          <a:bodyPr/>
          <a:lstStyle/>
          <a:p>
            <a:r>
              <a:rPr lang="en-IN" b="1" dirty="0"/>
              <a:t>EC2 Service Let’s you create virtual machines on AWS</a:t>
            </a:r>
          </a:p>
        </p:txBody>
      </p:sp>
      <p:sp>
        <p:nvSpPr>
          <p:cNvPr id="3" name="Content Placeholder 2">
            <a:extLst>
              <a:ext uri="{FF2B5EF4-FFF2-40B4-BE49-F238E27FC236}">
                <a16:creationId xmlns:a16="http://schemas.microsoft.com/office/drawing/2014/main" id="{5F72A304-3C3A-427E-B9A6-284F2CE01139}"/>
              </a:ext>
            </a:extLst>
          </p:cNvPr>
          <p:cNvSpPr>
            <a:spLocks noGrp="1"/>
          </p:cNvSpPr>
          <p:nvPr>
            <p:ph idx="1"/>
          </p:nvPr>
        </p:nvSpPr>
        <p:spPr>
          <a:xfrm>
            <a:off x="838200" y="2110153"/>
            <a:ext cx="10515600" cy="4066809"/>
          </a:xfrm>
        </p:spPr>
        <p:txBody>
          <a:bodyPr>
            <a:normAutofit/>
          </a:bodyPr>
          <a:lstStyle/>
          <a:p>
            <a:pPr>
              <a:lnSpc>
                <a:spcPct val="150000"/>
              </a:lnSpc>
            </a:pPr>
            <a:r>
              <a:rPr lang="en-IN" sz="2000" dirty="0"/>
              <a:t>Each machine is called an </a:t>
            </a:r>
            <a:r>
              <a:rPr lang="en-IN" sz="2000" b="1" dirty="0"/>
              <a:t>EC2 instance</a:t>
            </a:r>
          </a:p>
          <a:p>
            <a:pPr>
              <a:lnSpc>
                <a:spcPct val="150000"/>
              </a:lnSpc>
            </a:pPr>
            <a:r>
              <a:rPr lang="en-IN" sz="2000" b="1" dirty="0"/>
              <a:t>EC2 = ECC (Elastic Compute Cloud)</a:t>
            </a:r>
          </a:p>
          <a:p>
            <a:pPr>
              <a:lnSpc>
                <a:spcPct val="150000"/>
              </a:lnSpc>
            </a:pPr>
            <a:r>
              <a:rPr lang="en-IN" sz="2000" dirty="0"/>
              <a:t>EC2 instance are elastic, meaning they can instantly grow or shrink to match the requirements of a specific application.</a:t>
            </a:r>
          </a:p>
          <a:p>
            <a:pPr>
              <a:lnSpc>
                <a:spcPct val="150000"/>
              </a:lnSpc>
            </a:pPr>
            <a:r>
              <a:rPr lang="en-IN" sz="2000" dirty="0"/>
              <a:t>You can pay-as-you-go for EC2 instances per second.</a:t>
            </a:r>
          </a:p>
        </p:txBody>
      </p:sp>
    </p:spTree>
    <p:extLst>
      <p:ext uri="{BB962C8B-B14F-4D97-AF65-F5344CB8AC3E}">
        <p14:creationId xmlns:p14="http://schemas.microsoft.com/office/powerpoint/2010/main" val="39591423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E635C-AEFD-4F39-9134-73129027904A}"/>
              </a:ext>
            </a:extLst>
          </p:cNvPr>
          <p:cNvSpPr>
            <a:spLocks noGrp="1"/>
          </p:cNvSpPr>
          <p:nvPr>
            <p:ph type="title"/>
          </p:nvPr>
        </p:nvSpPr>
        <p:spPr>
          <a:xfrm>
            <a:off x="838200" y="365126"/>
            <a:ext cx="10515600" cy="818906"/>
          </a:xfrm>
        </p:spPr>
        <p:txBody>
          <a:bodyPr/>
          <a:lstStyle/>
          <a:p>
            <a:r>
              <a:rPr lang="en-IN" b="1" dirty="0"/>
              <a:t>Features of Amazon EC2</a:t>
            </a:r>
          </a:p>
        </p:txBody>
      </p:sp>
      <p:sp>
        <p:nvSpPr>
          <p:cNvPr id="3" name="Content Placeholder 2">
            <a:extLst>
              <a:ext uri="{FF2B5EF4-FFF2-40B4-BE49-F238E27FC236}">
                <a16:creationId xmlns:a16="http://schemas.microsoft.com/office/drawing/2014/main" id="{F11BDC9E-3516-48FF-BCC1-C6F44FF9407D}"/>
              </a:ext>
            </a:extLst>
          </p:cNvPr>
          <p:cNvSpPr>
            <a:spLocks noGrp="1"/>
          </p:cNvSpPr>
          <p:nvPr>
            <p:ph idx="1"/>
          </p:nvPr>
        </p:nvSpPr>
        <p:spPr>
          <a:xfrm>
            <a:off x="838200" y="1312985"/>
            <a:ext cx="10515600" cy="4863978"/>
          </a:xfrm>
        </p:spPr>
        <p:txBody>
          <a:bodyPr>
            <a:normAutofit/>
          </a:bodyPr>
          <a:lstStyle/>
          <a:p>
            <a:pPr>
              <a:lnSpc>
                <a:spcPct val="150000"/>
              </a:lnSpc>
            </a:pPr>
            <a:r>
              <a:rPr lang="en-IN" sz="2000" dirty="0"/>
              <a:t>Persistent storage volume for data using Amazon </a:t>
            </a:r>
            <a:r>
              <a:rPr lang="en-IN" sz="2000" b="1" dirty="0"/>
              <a:t>Elastic block store</a:t>
            </a:r>
            <a:r>
              <a:rPr lang="en-IN" sz="2000" dirty="0"/>
              <a:t>.</a:t>
            </a:r>
          </a:p>
          <a:p>
            <a:pPr>
              <a:lnSpc>
                <a:spcPct val="150000"/>
              </a:lnSpc>
            </a:pPr>
            <a:r>
              <a:rPr lang="en-IN" sz="2000" dirty="0"/>
              <a:t>Multiple physical locations for your resources such as instances and Amazon EBS volumes known as </a:t>
            </a:r>
            <a:r>
              <a:rPr lang="en-IN" sz="2000" b="1" dirty="0"/>
              <a:t>regions</a:t>
            </a:r>
            <a:r>
              <a:rPr lang="en-IN" sz="2000" dirty="0"/>
              <a:t> and </a:t>
            </a:r>
            <a:r>
              <a:rPr lang="en-IN" sz="2000" b="1" dirty="0"/>
              <a:t>Availability Zones</a:t>
            </a:r>
            <a:r>
              <a:rPr lang="en-IN" sz="2000" dirty="0"/>
              <a:t>.</a:t>
            </a:r>
          </a:p>
          <a:p>
            <a:pPr>
              <a:lnSpc>
                <a:spcPct val="150000"/>
              </a:lnSpc>
            </a:pPr>
            <a:r>
              <a:rPr lang="en-IN" sz="2000" dirty="0"/>
              <a:t>A firewall that enables you to specify ports, protocols and source IP ranges that can reach your instances. Also called security groups.</a:t>
            </a:r>
          </a:p>
          <a:p>
            <a:pPr>
              <a:lnSpc>
                <a:spcPct val="150000"/>
              </a:lnSpc>
            </a:pPr>
            <a:r>
              <a:rPr lang="en-IN" sz="2000" dirty="0"/>
              <a:t>Option of having static ipv4 addresses for dynamic cloud computing, known as Elastic IP addresses.</a:t>
            </a:r>
          </a:p>
          <a:p>
            <a:pPr>
              <a:lnSpc>
                <a:spcPct val="150000"/>
              </a:lnSpc>
            </a:pPr>
            <a:r>
              <a:rPr lang="en-IN" sz="2000" dirty="0"/>
              <a:t>Various sizes and capacity of servers.</a:t>
            </a:r>
          </a:p>
        </p:txBody>
      </p:sp>
    </p:spTree>
    <p:extLst>
      <p:ext uri="{BB962C8B-B14F-4D97-AF65-F5344CB8AC3E}">
        <p14:creationId xmlns:p14="http://schemas.microsoft.com/office/powerpoint/2010/main" val="26838040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E2DF5-8E7E-44A0-8E31-0CF62A40B769}"/>
              </a:ext>
            </a:extLst>
          </p:cNvPr>
          <p:cNvSpPr>
            <a:spLocks noGrp="1"/>
          </p:cNvSpPr>
          <p:nvPr>
            <p:ph type="title"/>
          </p:nvPr>
        </p:nvSpPr>
        <p:spPr>
          <a:xfrm>
            <a:off x="838200" y="365125"/>
            <a:ext cx="10515600" cy="900967"/>
          </a:xfrm>
        </p:spPr>
        <p:txBody>
          <a:bodyPr>
            <a:noAutofit/>
          </a:bodyPr>
          <a:lstStyle/>
          <a:p>
            <a:r>
              <a:rPr lang="en-GB" sz="3200" b="1" dirty="0"/>
              <a:t>In order to create an ec2 instance , we have to have an AMI </a:t>
            </a:r>
            <a:endParaRPr lang="en-IN" sz="3200" b="1" dirty="0"/>
          </a:p>
        </p:txBody>
      </p:sp>
      <p:sp>
        <p:nvSpPr>
          <p:cNvPr id="3" name="Content Placeholder 2">
            <a:extLst>
              <a:ext uri="{FF2B5EF4-FFF2-40B4-BE49-F238E27FC236}">
                <a16:creationId xmlns:a16="http://schemas.microsoft.com/office/drawing/2014/main" id="{42B6C751-2425-42A5-B3AE-85FA74ED4518}"/>
              </a:ext>
            </a:extLst>
          </p:cNvPr>
          <p:cNvSpPr>
            <a:spLocks noGrp="1"/>
          </p:cNvSpPr>
          <p:nvPr>
            <p:ph idx="1"/>
          </p:nvPr>
        </p:nvSpPr>
        <p:spPr>
          <a:xfrm>
            <a:off x="838200" y="1406769"/>
            <a:ext cx="10515600" cy="4770194"/>
          </a:xfrm>
        </p:spPr>
        <p:txBody>
          <a:bodyPr>
            <a:normAutofit/>
          </a:bodyPr>
          <a:lstStyle/>
          <a:p>
            <a:pPr>
              <a:lnSpc>
                <a:spcPct val="110000"/>
              </a:lnSpc>
              <a:buFont typeface="Wingdings" panose="05000000000000000000" pitchFamily="2" charset="2"/>
              <a:buChar char="§"/>
            </a:pPr>
            <a:r>
              <a:rPr lang="en-GB" sz="2000" dirty="0"/>
              <a:t>AMI Stands for Amazon Machine Image. </a:t>
            </a:r>
          </a:p>
          <a:p>
            <a:pPr>
              <a:lnSpc>
                <a:spcPct val="110000"/>
              </a:lnSpc>
              <a:buFont typeface="Wingdings" panose="05000000000000000000" pitchFamily="2" charset="2"/>
              <a:buChar char="§"/>
            </a:pPr>
            <a:r>
              <a:rPr lang="en-GB" sz="2000" dirty="0"/>
              <a:t>AMI is basically an OS image.</a:t>
            </a:r>
          </a:p>
          <a:p>
            <a:pPr>
              <a:lnSpc>
                <a:spcPct val="110000"/>
              </a:lnSpc>
              <a:buFont typeface="Wingdings" panose="05000000000000000000" pitchFamily="2" charset="2"/>
              <a:buChar char="§"/>
            </a:pPr>
            <a:r>
              <a:rPr lang="en-GB" sz="2000" dirty="0"/>
              <a:t>An Amazon Machine Image (AMI) provides the information required to launch an instance.</a:t>
            </a:r>
          </a:p>
          <a:p>
            <a:pPr>
              <a:lnSpc>
                <a:spcPct val="110000"/>
              </a:lnSpc>
              <a:buFont typeface="Wingdings" panose="05000000000000000000" pitchFamily="2" charset="2"/>
              <a:buChar char="§"/>
            </a:pPr>
            <a:endParaRPr lang="en-GB" sz="2000" dirty="0"/>
          </a:p>
          <a:p>
            <a:pPr marL="0" indent="0">
              <a:lnSpc>
                <a:spcPct val="110000"/>
              </a:lnSpc>
              <a:buNone/>
            </a:pPr>
            <a:r>
              <a:rPr lang="en-GB" sz="2000" b="1" dirty="0"/>
              <a:t>An AMI includes the following:</a:t>
            </a:r>
          </a:p>
          <a:p>
            <a:pPr>
              <a:lnSpc>
                <a:spcPct val="110000"/>
              </a:lnSpc>
            </a:pPr>
            <a:r>
              <a:rPr lang="en-GB" sz="2000" dirty="0"/>
              <a:t>A template for the root volume for the instance (for example, an operating system, an application server, and applications) </a:t>
            </a:r>
          </a:p>
          <a:p>
            <a:pPr>
              <a:lnSpc>
                <a:spcPct val="110000"/>
              </a:lnSpc>
            </a:pPr>
            <a:r>
              <a:rPr lang="en-GB" sz="2000" dirty="0"/>
              <a:t>Launch permissions that control which AWS accounts can use the AMI to launch instances.</a:t>
            </a:r>
          </a:p>
          <a:p>
            <a:pPr>
              <a:lnSpc>
                <a:spcPct val="110000"/>
              </a:lnSpc>
            </a:pPr>
            <a:r>
              <a:rPr lang="en-GB" sz="2000" dirty="0"/>
              <a:t>A block device mapping that specifies the volumes to attach to the instance when it's launched.</a:t>
            </a:r>
            <a:endParaRPr lang="en-IN" sz="2000" b="1" dirty="0"/>
          </a:p>
        </p:txBody>
      </p:sp>
    </p:spTree>
    <p:extLst>
      <p:ext uri="{BB962C8B-B14F-4D97-AF65-F5344CB8AC3E}">
        <p14:creationId xmlns:p14="http://schemas.microsoft.com/office/powerpoint/2010/main" val="1146738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0E2BD-0133-42B2-B4D3-90BE20C56610}"/>
              </a:ext>
            </a:extLst>
          </p:cNvPr>
          <p:cNvSpPr>
            <a:spLocks noGrp="1"/>
          </p:cNvSpPr>
          <p:nvPr>
            <p:ph type="title"/>
          </p:nvPr>
        </p:nvSpPr>
        <p:spPr/>
        <p:txBody>
          <a:bodyPr/>
          <a:lstStyle/>
          <a:p>
            <a:r>
              <a:rPr lang="en-IN" b="1" dirty="0"/>
              <a:t>Types of AMI:</a:t>
            </a:r>
          </a:p>
        </p:txBody>
      </p:sp>
      <p:sp>
        <p:nvSpPr>
          <p:cNvPr id="3" name="Content Placeholder 2">
            <a:extLst>
              <a:ext uri="{FF2B5EF4-FFF2-40B4-BE49-F238E27FC236}">
                <a16:creationId xmlns:a16="http://schemas.microsoft.com/office/drawing/2014/main" id="{8A21DA34-638E-43AE-B3B1-BAD83DAC82AB}"/>
              </a:ext>
            </a:extLst>
          </p:cNvPr>
          <p:cNvSpPr>
            <a:spLocks noGrp="1"/>
          </p:cNvSpPr>
          <p:nvPr>
            <p:ph idx="1"/>
          </p:nvPr>
        </p:nvSpPr>
        <p:spPr/>
        <p:txBody>
          <a:bodyPr/>
          <a:lstStyle/>
          <a:p>
            <a:r>
              <a:rPr lang="en-IN" dirty="0"/>
              <a:t>AWS provided AMI’s (free)</a:t>
            </a:r>
          </a:p>
          <a:p>
            <a:r>
              <a:rPr lang="en-IN" dirty="0"/>
              <a:t>Community AMI’s (free)</a:t>
            </a:r>
          </a:p>
          <a:p>
            <a:r>
              <a:rPr lang="en-IN" dirty="0"/>
              <a:t>AWS marketplace AMI (free and paid)</a:t>
            </a:r>
          </a:p>
          <a:p>
            <a:r>
              <a:rPr lang="en-IN" dirty="0"/>
              <a:t>Your custom AMI’s</a:t>
            </a:r>
          </a:p>
        </p:txBody>
      </p:sp>
    </p:spTree>
    <p:extLst>
      <p:ext uri="{BB962C8B-B14F-4D97-AF65-F5344CB8AC3E}">
        <p14:creationId xmlns:p14="http://schemas.microsoft.com/office/powerpoint/2010/main" val="35302546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657F0-C84E-4E05-ACFF-BE967114BEA3}"/>
              </a:ext>
            </a:extLst>
          </p:cNvPr>
          <p:cNvSpPr>
            <a:spLocks noGrp="1"/>
          </p:cNvSpPr>
          <p:nvPr>
            <p:ph type="title"/>
          </p:nvPr>
        </p:nvSpPr>
        <p:spPr>
          <a:xfrm>
            <a:off x="838200" y="365125"/>
            <a:ext cx="10515600" cy="807183"/>
          </a:xfrm>
        </p:spPr>
        <p:txBody>
          <a:bodyPr/>
          <a:lstStyle/>
          <a:p>
            <a:r>
              <a:rPr lang="en-IN" b="1" dirty="0"/>
              <a:t>Amazon Linux AMI</a:t>
            </a:r>
          </a:p>
        </p:txBody>
      </p:sp>
      <p:sp>
        <p:nvSpPr>
          <p:cNvPr id="3" name="Content Placeholder 2">
            <a:extLst>
              <a:ext uri="{FF2B5EF4-FFF2-40B4-BE49-F238E27FC236}">
                <a16:creationId xmlns:a16="http://schemas.microsoft.com/office/drawing/2014/main" id="{12B68F09-FBB8-452D-9072-2A710223ED76}"/>
              </a:ext>
            </a:extLst>
          </p:cNvPr>
          <p:cNvSpPr>
            <a:spLocks noGrp="1"/>
          </p:cNvSpPr>
          <p:nvPr>
            <p:ph idx="1"/>
          </p:nvPr>
        </p:nvSpPr>
        <p:spPr>
          <a:xfrm>
            <a:off x="838200" y="1453662"/>
            <a:ext cx="10515600" cy="4723301"/>
          </a:xfrm>
        </p:spPr>
        <p:txBody>
          <a:bodyPr/>
          <a:lstStyle/>
          <a:p>
            <a:pPr marL="0" indent="0">
              <a:buNone/>
            </a:pPr>
            <a:r>
              <a:rPr lang="en-IN" dirty="0"/>
              <a:t>Features of Amazon Linux AMI’s are:</a:t>
            </a:r>
          </a:p>
          <a:p>
            <a:pPr>
              <a:lnSpc>
                <a:spcPct val="150000"/>
              </a:lnSpc>
            </a:pPr>
            <a:r>
              <a:rPr lang="en-GB" sz="2000" dirty="0"/>
              <a:t>A stable, secure, and high-performance execution environment for applications running on Amazon EC2.</a:t>
            </a:r>
          </a:p>
          <a:p>
            <a:pPr>
              <a:lnSpc>
                <a:spcPct val="150000"/>
              </a:lnSpc>
            </a:pPr>
            <a:r>
              <a:rPr lang="en-GB" sz="2000" dirty="0"/>
              <a:t>Provided at no additional charge to Amazon EC2 users. </a:t>
            </a:r>
          </a:p>
          <a:p>
            <a:pPr>
              <a:lnSpc>
                <a:spcPct val="150000"/>
              </a:lnSpc>
            </a:pPr>
            <a:r>
              <a:rPr lang="en-GB" sz="2000" dirty="0"/>
              <a:t>Repository access to multiple versions of MySQL, PostgreSQL, Python, Ruby, Tomcat, and many more common packages. </a:t>
            </a:r>
          </a:p>
          <a:p>
            <a:pPr>
              <a:lnSpc>
                <a:spcPct val="150000"/>
              </a:lnSpc>
            </a:pPr>
            <a:r>
              <a:rPr lang="en-GB" sz="2000" dirty="0"/>
              <a:t>Regular updates of components and packages like yum </a:t>
            </a:r>
          </a:p>
          <a:p>
            <a:pPr>
              <a:lnSpc>
                <a:spcPct val="150000"/>
              </a:lnSpc>
            </a:pPr>
            <a:r>
              <a:rPr lang="en-GB" sz="2000" dirty="0"/>
              <a:t>Includes packages that enable easy integration with AWS services, such as the AWS CLI, the Boto library for Python etc. </a:t>
            </a:r>
            <a:endParaRPr lang="en-IN" sz="2000" dirty="0"/>
          </a:p>
        </p:txBody>
      </p:sp>
    </p:spTree>
    <p:extLst>
      <p:ext uri="{BB962C8B-B14F-4D97-AF65-F5344CB8AC3E}">
        <p14:creationId xmlns:p14="http://schemas.microsoft.com/office/powerpoint/2010/main" val="15467989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C3D18-0FD0-4E41-9EB3-7CBD605949AD}"/>
              </a:ext>
            </a:extLst>
          </p:cNvPr>
          <p:cNvSpPr>
            <a:spLocks noGrp="1"/>
          </p:cNvSpPr>
          <p:nvPr>
            <p:ph type="title"/>
          </p:nvPr>
        </p:nvSpPr>
        <p:spPr/>
        <p:txBody>
          <a:bodyPr>
            <a:normAutofit/>
          </a:bodyPr>
          <a:lstStyle/>
          <a:p>
            <a:r>
              <a:rPr lang="en-GB" sz="3200" b="1" dirty="0"/>
              <a:t>You need certain things/components to successfully launch an EC2 and log into it </a:t>
            </a:r>
            <a:endParaRPr lang="en-IN" sz="3200" b="1" dirty="0"/>
          </a:p>
        </p:txBody>
      </p:sp>
      <p:sp>
        <p:nvSpPr>
          <p:cNvPr id="3" name="Content Placeholder 2">
            <a:extLst>
              <a:ext uri="{FF2B5EF4-FFF2-40B4-BE49-F238E27FC236}">
                <a16:creationId xmlns:a16="http://schemas.microsoft.com/office/drawing/2014/main" id="{E9937C5F-7E36-4FAE-ACF5-80D19ABC11EC}"/>
              </a:ext>
            </a:extLst>
          </p:cNvPr>
          <p:cNvSpPr>
            <a:spLocks noGrp="1"/>
          </p:cNvSpPr>
          <p:nvPr>
            <p:ph idx="1"/>
          </p:nvPr>
        </p:nvSpPr>
        <p:spPr/>
        <p:txBody>
          <a:bodyPr>
            <a:normAutofit/>
          </a:bodyPr>
          <a:lstStyle/>
          <a:p>
            <a:r>
              <a:rPr lang="en-GB" sz="2000" dirty="0"/>
              <a:t>VPC , Subnet ( there are default subnets) </a:t>
            </a:r>
          </a:p>
          <a:p>
            <a:r>
              <a:rPr lang="en-GB" sz="2000" dirty="0"/>
              <a:t>Security Group </a:t>
            </a:r>
          </a:p>
          <a:p>
            <a:r>
              <a:rPr lang="en-GB" sz="2000" dirty="0"/>
              <a:t>Key Pair </a:t>
            </a:r>
          </a:p>
          <a:p>
            <a:r>
              <a:rPr lang="en-GB" sz="2000" dirty="0"/>
              <a:t>Storage ( usually EBS) </a:t>
            </a:r>
          </a:p>
          <a:p>
            <a:r>
              <a:rPr lang="en-GB" sz="2000" dirty="0"/>
              <a:t>AMI </a:t>
            </a:r>
          </a:p>
          <a:p>
            <a:r>
              <a:rPr lang="en-GB" sz="2000" dirty="0"/>
              <a:t>Instance Type</a:t>
            </a:r>
            <a:endParaRPr lang="en-IN" sz="2000" dirty="0"/>
          </a:p>
        </p:txBody>
      </p:sp>
    </p:spTree>
    <p:extLst>
      <p:ext uri="{BB962C8B-B14F-4D97-AF65-F5344CB8AC3E}">
        <p14:creationId xmlns:p14="http://schemas.microsoft.com/office/powerpoint/2010/main" val="39849577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107BF23-19FE-4B1F-A0FA-820838D71F26}"/>
              </a:ext>
            </a:extLst>
          </p:cNvPr>
          <p:cNvPicPr>
            <a:picLocks noChangeAspect="1"/>
          </p:cNvPicPr>
          <p:nvPr/>
        </p:nvPicPr>
        <p:blipFill>
          <a:blip r:embed="rId2"/>
          <a:stretch>
            <a:fillRect/>
          </a:stretch>
        </p:blipFill>
        <p:spPr>
          <a:xfrm>
            <a:off x="3969125" y="1969476"/>
            <a:ext cx="7384675" cy="3249979"/>
          </a:xfrm>
          <a:prstGeom prst="rect">
            <a:avLst/>
          </a:prstGeom>
        </p:spPr>
      </p:pic>
      <p:sp>
        <p:nvSpPr>
          <p:cNvPr id="2" name="Title 1">
            <a:extLst>
              <a:ext uri="{FF2B5EF4-FFF2-40B4-BE49-F238E27FC236}">
                <a16:creationId xmlns:a16="http://schemas.microsoft.com/office/drawing/2014/main" id="{406D21C6-85E8-4D02-8826-B7A9F9A61361}"/>
              </a:ext>
            </a:extLst>
          </p:cNvPr>
          <p:cNvSpPr>
            <a:spLocks noGrp="1"/>
          </p:cNvSpPr>
          <p:nvPr>
            <p:ph type="title"/>
          </p:nvPr>
        </p:nvSpPr>
        <p:spPr/>
        <p:txBody>
          <a:bodyPr/>
          <a:lstStyle/>
          <a:p>
            <a:r>
              <a:rPr lang="en-IN" b="1" dirty="0"/>
              <a:t>EC2 Lifecycle</a:t>
            </a:r>
          </a:p>
        </p:txBody>
      </p:sp>
      <p:sp>
        <p:nvSpPr>
          <p:cNvPr id="3" name="Content Placeholder 2">
            <a:extLst>
              <a:ext uri="{FF2B5EF4-FFF2-40B4-BE49-F238E27FC236}">
                <a16:creationId xmlns:a16="http://schemas.microsoft.com/office/drawing/2014/main" id="{DD69BC22-76E4-4B54-B8F0-403E1216BB25}"/>
              </a:ext>
            </a:extLst>
          </p:cNvPr>
          <p:cNvSpPr>
            <a:spLocks noGrp="1"/>
          </p:cNvSpPr>
          <p:nvPr>
            <p:ph idx="1"/>
          </p:nvPr>
        </p:nvSpPr>
        <p:spPr/>
        <p:txBody>
          <a:bodyPr/>
          <a:lstStyle/>
          <a:p>
            <a:pPr marL="0" indent="0">
              <a:buNone/>
            </a:pPr>
            <a:r>
              <a:rPr lang="en-GB" dirty="0"/>
              <a:t>You can: </a:t>
            </a:r>
          </a:p>
          <a:p>
            <a:r>
              <a:rPr lang="en-GB" sz="2000" dirty="0"/>
              <a:t>Launch EC2 </a:t>
            </a:r>
          </a:p>
          <a:p>
            <a:r>
              <a:rPr lang="en-GB" sz="2000" dirty="0"/>
              <a:t>Reboot/restart </a:t>
            </a:r>
          </a:p>
          <a:p>
            <a:r>
              <a:rPr lang="en-GB" sz="2000" dirty="0"/>
              <a:t>Stop EC2( like shutdown) </a:t>
            </a:r>
          </a:p>
          <a:p>
            <a:r>
              <a:rPr lang="en-GB" sz="2000" dirty="0"/>
              <a:t>Hibernate EC2 instance </a:t>
            </a:r>
          </a:p>
          <a:p>
            <a:r>
              <a:rPr lang="en-GB" sz="2000" dirty="0"/>
              <a:t>Terminate EC2( release forever) </a:t>
            </a:r>
          </a:p>
          <a:p>
            <a:r>
              <a:rPr lang="en-GB" sz="2000" dirty="0"/>
              <a:t>Start EC2( If Stopped)</a:t>
            </a:r>
            <a:endParaRPr lang="en-IN" sz="2000" dirty="0"/>
          </a:p>
        </p:txBody>
      </p:sp>
    </p:spTree>
    <p:extLst>
      <p:ext uri="{BB962C8B-B14F-4D97-AF65-F5344CB8AC3E}">
        <p14:creationId xmlns:p14="http://schemas.microsoft.com/office/powerpoint/2010/main" val="5798322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621E6-9748-477A-8BCF-21E9AF6F0375}"/>
              </a:ext>
            </a:extLst>
          </p:cNvPr>
          <p:cNvSpPr>
            <a:spLocks noGrp="1"/>
          </p:cNvSpPr>
          <p:nvPr>
            <p:ph type="title"/>
          </p:nvPr>
        </p:nvSpPr>
        <p:spPr>
          <a:xfrm>
            <a:off x="838200" y="142387"/>
            <a:ext cx="10515600" cy="807183"/>
          </a:xfrm>
        </p:spPr>
        <p:txBody>
          <a:bodyPr/>
          <a:lstStyle/>
          <a:p>
            <a:r>
              <a:rPr lang="en-GB" b="1" dirty="0"/>
              <a:t>There are 2 kinds of EC2 Storage </a:t>
            </a:r>
            <a:endParaRPr lang="en-IN" b="1" dirty="0"/>
          </a:p>
        </p:txBody>
      </p:sp>
      <p:sp>
        <p:nvSpPr>
          <p:cNvPr id="3" name="Content Placeholder 2">
            <a:extLst>
              <a:ext uri="{FF2B5EF4-FFF2-40B4-BE49-F238E27FC236}">
                <a16:creationId xmlns:a16="http://schemas.microsoft.com/office/drawing/2014/main" id="{7EFA9B27-CD3B-4ACA-AF38-E9E8D5CEDE47}"/>
              </a:ext>
            </a:extLst>
          </p:cNvPr>
          <p:cNvSpPr>
            <a:spLocks noGrp="1"/>
          </p:cNvSpPr>
          <p:nvPr>
            <p:ph idx="1"/>
          </p:nvPr>
        </p:nvSpPr>
        <p:spPr>
          <a:xfrm>
            <a:off x="838200" y="949570"/>
            <a:ext cx="10515600" cy="4351338"/>
          </a:xfrm>
        </p:spPr>
        <p:txBody>
          <a:bodyPr>
            <a:normAutofit/>
          </a:bodyPr>
          <a:lstStyle/>
          <a:p>
            <a:pPr marL="0" indent="0">
              <a:buNone/>
            </a:pPr>
            <a:r>
              <a:rPr lang="en-GB" sz="2000" b="1" dirty="0"/>
              <a:t>Instance Store:</a:t>
            </a:r>
            <a:r>
              <a:rPr lang="en-GB" sz="2000" dirty="0"/>
              <a:t> Hard disk is in the host machine. You lose data if EC2 instance is shut down.</a:t>
            </a:r>
          </a:p>
          <a:p>
            <a:pPr marL="0" indent="0">
              <a:buNone/>
            </a:pPr>
            <a:r>
              <a:rPr lang="en-GB" sz="2000" b="1" dirty="0"/>
              <a:t>EBS Storage: </a:t>
            </a:r>
          </a:p>
          <a:p>
            <a:r>
              <a:rPr lang="en-GB" sz="2000" dirty="0"/>
              <a:t>EBS stands for Elastic Block Storage. </a:t>
            </a:r>
          </a:p>
          <a:p>
            <a:r>
              <a:rPr lang="en-GB" sz="2000" dirty="0"/>
              <a:t>EBS one of the two types of storage on AWS. </a:t>
            </a:r>
          </a:p>
          <a:p>
            <a:r>
              <a:rPr lang="en-GB" sz="2000" dirty="0"/>
              <a:t>EBS is basically independent of EC2 and is like a networked drive. You can terminate( release forever) an EC2 and still save EBS volumes and use it later.</a:t>
            </a:r>
          </a:p>
          <a:p>
            <a:pPr marL="0" indent="0">
              <a:buNone/>
            </a:pPr>
            <a:endParaRPr lang="en-IN" sz="2000" dirty="0"/>
          </a:p>
        </p:txBody>
      </p:sp>
      <p:pic>
        <p:nvPicPr>
          <p:cNvPr id="5" name="Picture 4">
            <a:extLst>
              <a:ext uri="{FF2B5EF4-FFF2-40B4-BE49-F238E27FC236}">
                <a16:creationId xmlns:a16="http://schemas.microsoft.com/office/drawing/2014/main" id="{14ED3448-F002-437D-ADFC-5969EC479FBA}"/>
              </a:ext>
            </a:extLst>
          </p:cNvPr>
          <p:cNvPicPr>
            <a:picLocks noChangeAspect="1"/>
          </p:cNvPicPr>
          <p:nvPr/>
        </p:nvPicPr>
        <p:blipFill>
          <a:blip r:embed="rId2"/>
          <a:stretch>
            <a:fillRect/>
          </a:stretch>
        </p:blipFill>
        <p:spPr>
          <a:xfrm>
            <a:off x="3546475" y="3113299"/>
            <a:ext cx="5099050" cy="3602314"/>
          </a:xfrm>
          <a:prstGeom prst="rect">
            <a:avLst/>
          </a:prstGeom>
        </p:spPr>
      </p:pic>
    </p:spTree>
    <p:extLst>
      <p:ext uri="{BB962C8B-B14F-4D97-AF65-F5344CB8AC3E}">
        <p14:creationId xmlns:p14="http://schemas.microsoft.com/office/powerpoint/2010/main" val="16003019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4BBCB-1BAD-41EE-BD6A-B1A98EE1A80B}"/>
              </a:ext>
            </a:extLst>
          </p:cNvPr>
          <p:cNvSpPr>
            <a:spLocks noGrp="1"/>
          </p:cNvSpPr>
          <p:nvPr>
            <p:ph type="title"/>
          </p:nvPr>
        </p:nvSpPr>
        <p:spPr/>
        <p:txBody>
          <a:bodyPr/>
          <a:lstStyle/>
          <a:p>
            <a:r>
              <a:rPr lang="en-IN" b="1" dirty="0"/>
              <a:t>EC2 Pricing Model</a:t>
            </a:r>
          </a:p>
        </p:txBody>
      </p:sp>
      <p:sp>
        <p:nvSpPr>
          <p:cNvPr id="3" name="Content Placeholder 2">
            <a:extLst>
              <a:ext uri="{FF2B5EF4-FFF2-40B4-BE49-F238E27FC236}">
                <a16:creationId xmlns:a16="http://schemas.microsoft.com/office/drawing/2014/main" id="{2C6DD580-C9EA-4A80-B9B3-D95C1342F3C5}"/>
              </a:ext>
            </a:extLst>
          </p:cNvPr>
          <p:cNvSpPr>
            <a:spLocks noGrp="1"/>
          </p:cNvSpPr>
          <p:nvPr>
            <p:ph idx="1"/>
          </p:nvPr>
        </p:nvSpPr>
        <p:spPr/>
        <p:txBody>
          <a:bodyPr>
            <a:normAutofit/>
          </a:bodyPr>
          <a:lstStyle/>
          <a:p>
            <a:pPr>
              <a:lnSpc>
                <a:spcPct val="150000"/>
              </a:lnSpc>
            </a:pPr>
            <a:r>
              <a:rPr lang="en-GB" sz="2000" b="1" dirty="0"/>
              <a:t>On Demand Instances :</a:t>
            </a:r>
            <a:r>
              <a:rPr lang="en-GB" sz="2000" dirty="0"/>
              <a:t> Rent it for few seconds/hours/days etc . Pay as you go</a:t>
            </a:r>
          </a:p>
          <a:p>
            <a:pPr>
              <a:lnSpc>
                <a:spcPct val="150000"/>
              </a:lnSpc>
            </a:pPr>
            <a:r>
              <a:rPr lang="en-GB" sz="2000" b="1" dirty="0"/>
              <a:t>Reserved Instances :</a:t>
            </a:r>
            <a:r>
              <a:rPr lang="en-GB" sz="2000" dirty="0"/>
              <a:t> Pay upfront for 1-3 years and save a lot ( up to 75%)</a:t>
            </a:r>
          </a:p>
          <a:p>
            <a:pPr>
              <a:lnSpc>
                <a:spcPct val="150000"/>
              </a:lnSpc>
            </a:pPr>
            <a:r>
              <a:rPr lang="en-GB" sz="2000" b="1" dirty="0"/>
              <a:t>Spot Instance: </a:t>
            </a:r>
            <a:r>
              <a:rPr lang="en-GB" sz="2000" dirty="0"/>
              <a:t>You bid on them IF available. May terminate with 2 minute notice . </a:t>
            </a:r>
            <a:r>
              <a:rPr lang="en-GB" sz="2000" dirty="0" err="1"/>
              <a:t>uptp</a:t>
            </a:r>
            <a:r>
              <a:rPr lang="en-GB" sz="2000" dirty="0"/>
              <a:t> 90% cheaper than On Demand Instances </a:t>
            </a:r>
            <a:endParaRPr lang="en-IN" sz="2000" dirty="0"/>
          </a:p>
        </p:txBody>
      </p:sp>
    </p:spTree>
    <p:extLst>
      <p:ext uri="{BB962C8B-B14F-4D97-AF65-F5344CB8AC3E}">
        <p14:creationId xmlns:p14="http://schemas.microsoft.com/office/powerpoint/2010/main" val="7085832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FFC43-64D1-4601-BED1-A2F62BF1AECD}"/>
              </a:ext>
            </a:extLst>
          </p:cNvPr>
          <p:cNvSpPr>
            <a:spLocks noGrp="1"/>
          </p:cNvSpPr>
          <p:nvPr>
            <p:ph type="title"/>
          </p:nvPr>
        </p:nvSpPr>
        <p:spPr/>
        <p:txBody>
          <a:bodyPr/>
          <a:lstStyle/>
          <a:p>
            <a:r>
              <a:rPr lang="en-GB" b="1" dirty="0"/>
              <a:t>When an EC2 instance Is stopped</a:t>
            </a:r>
            <a:endParaRPr lang="en-IN" b="1" dirty="0"/>
          </a:p>
        </p:txBody>
      </p:sp>
      <p:sp>
        <p:nvSpPr>
          <p:cNvPr id="3" name="Content Placeholder 2">
            <a:extLst>
              <a:ext uri="{FF2B5EF4-FFF2-40B4-BE49-F238E27FC236}">
                <a16:creationId xmlns:a16="http://schemas.microsoft.com/office/drawing/2014/main" id="{FBF6C055-D514-4205-A7AA-6D4BFF0C8EE2}"/>
              </a:ext>
            </a:extLst>
          </p:cNvPr>
          <p:cNvSpPr>
            <a:spLocks noGrp="1"/>
          </p:cNvSpPr>
          <p:nvPr>
            <p:ph idx="1"/>
          </p:nvPr>
        </p:nvSpPr>
        <p:spPr/>
        <p:txBody>
          <a:bodyPr>
            <a:normAutofit/>
          </a:bodyPr>
          <a:lstStyle/>
          <a:p>
            <a:pPr>
              <a:lnSpc>
                <a:spcPct val="150000"/>
              </a:lnSpc>
            </a:pPr>
            <a:r>
              <a:rPr lang="en-GB" sz="2400" dirty="0"/>
              <a:t>Private IP remains with the EC2 instance.</a:t>
            </a:r>
          </a:p>
          <a:p>
            <a:pPr>
              <a:lnSpc>
                <a:spcPct val="150000"/>
              </a:lnSpc>
            </a:pPr>
            <a:r>
              <a:rPr lang="en-GB" sz="2400" dirty="0"/>
              <a:t>Public IP may change when you restart a stopped instance.</a:t>
            </a:r>
          </a:p>
          <a:p>
            <a:pPr>
              <a:lnSpc>
                <a:spcPct val="150000"/>
              </a:lnSpc>
            </a:pPr>
            <a:r>
              <a:rPr lang="en-GB" sz="2400" dirty="0"/>
              <a:t>The underlying host (physical machine) may change.</a:t>
            </a:r>
            <a:endParaRPr lang="en-IN" sz="2400" dirty="0"/>
          </a:p>
        </p:txBody>
      </p:sp>
    </p:spTree>
    <p:extLst>
      <p:ext uri="{BB962C8B-B14F-4D97-AF65-F5344CB8AC3E}">
        <p14:creationId xmlns:p14="http://schemas.microsoft.com/office/powerpoint/2010/main" val="2909160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AAE0F-376E-4E1C-9B90-FD5CE6CE6045}"/>
              </a:ext>
            </a:extLst>
          </p:cNvPr>
          <p:cNvSpPr>
            <a:spLocks noGrp="1"/>
          </p:cNvSpPr>
          <p:nvPr>
            <p:ph type="title"/>
          </p:nvPr>
        </p:nvSpPr>
        <p:spPr/>
        <p:txBody>
          <a:bodyPr/>
          <a:lstStyle/>
          <a:p>
            <a:r>
              <a:rPr lang="en-GB" b="1" dirty="0"/>
              <a:t>EC2 Public IP address and Elastic IP </a:t>
            </a:r>
            <a:endParaRPr lang="en-IN" b="1" dirty="0"/>
          </a:p>
        </p:txBody>
      </p:sp>
      <p:sp>
        <p:nvSpPr>
          <p:cNvPr id="3" name="Content Placeholder 2">
            <a:extLst>
              <a:ext uri="{FF2B5EF4-FFF2-40B4-BE49-F238E27FC236}">
                <a16:creationId xmlns:a16="http://schemas.microsoft.com/office/drawing/2014/main" id="{E2F5D06F-7CF3-44AC-ADC2-81F3ACE66811}"/>
              </a:ext>
            </a:extLst>
          </p:cNvPr>
          <p:cNvSpPr>
            <a:spLocks noGrp="1"/>
          </p:cNvSpPr>
          <p:nvPr>
            <p:ph idx="1"/>
          </p:nvPr>
        </p:nvSpPr>
        <p:spPr/>
        <p:txBody>
          <a:bodyPr>
            <a:normAutofit/>
          </a:bodyPr>
          <a:lstStyle/>
          <a:p>
            <a:pPr>
              <a:lnSpc>
                <a:spcPct val="150000"/>
              </a:lnSpc>
            </a:pPr>
            <a:r>
              <a:rPr lang="en-GB" sz="2000" dirty="0"/>
              <a:t>Elastic IP (EIP) are Static(persistent) IP’s that you can create on demand. They are different than the Public IP you get when you launch an EC2 instance ( if public IP is enabled) . You can attach EIP to an EC2 instance. </a:t>
            </a:r>
          </a:p>
          <a:p>
            <a:pPr>
              <a:lnSpc>
                <a:spcPct val="150000"/>
              </a:lnSpc>
            </a:pPr>
            <a:r>
              <a:rPr lang="en-GB" sz="2000" dirty="0"/>
              <a:t>Elastic IP’s stay with the instance even when the instance is stopped. This is in contrast to the default Public IP given to instance, which is released after an instance is stopped</a:t>
            </a:r>
          </a:p>
          <a:p>
            <a:pPr>
              <a:lnSpc>
                <a:spcPct val="150000"/>
              </a:lnSpc>
            </a:pPr>
            <a:r>
              <a:rPr lang="en-GB" sz="2000" dirty="0"/>
              <a:t>You always pay for EIP if it’s not attached to a running EC2. So if EC2 is stopped and has Elastic IP , you pay for the EIP.</a:t>
            </a:r>
            <a:endParaRPr lang="en-IN" sz="2000" dirty="0"/>
          </a:p>
        </p:txBody>
      </p:sp>
    </p:spTree>
    <p:extLst>
      <p:ext uri="{BB962C8B-B14F-4D97-AF65-F5344CB8AC3E}">
        <p14:creationId xmlns:p14="http://schemas.microsoft.com/office/powerpoint/2010/main" val="13157799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62376-F2A9-40A2-97E4-BA5EE10E1797}"/>
              </a:ext>
            </a:extLst>
          </p:cNvPr>
          <p:cNvSpPr>
            <a:spLocks noGrp="1"/>
          </p:cNvSpPr>
          <p:nvPr>
            <p:ph type="title"/>
          </p:nvPr>
        </p:nvSpPr>
        <p:spPr/>
        <p:txBody>
          <a:bodyPr>
            <a:normAutofit/>
          </a:bodyPr>
          <a:lstStyle/>
          <a:p>
            <a:r>
              <a:rPr lang="en-GB" sz="3600" b="1" dirty="0"/>
              <a:t>Termination Protection: Easy to launch , easy to destroy </a:t>
            </a:r>
            <a:endParaRPr lang="en-IN" sz="3600" b="1" dirty="0"/>
          </a:p>
        </p:txBody>
      </p:sp>
      <p:sp>
        <p:nvSpPr>
          <p:cNvPr id="3" name="Content Placeholder 2">
            <a:extLst>
              <a:ext uri="{FF2B5EF4-FFF2-40B4-BE49-F238E27FC236}">
                <a16:creationId xmlns:a16="http://schemas.microsoft.com/office/drawing/2014/main" id="{73AD4DC6-156E-494A-A91B-B098E935D25E}"/>
              </a:ext>
            </a:extLst>
          </p:cNvPr>
          <p:cNvSpPr>
            <a:spLocks noGrp="1"/>
          </p:cNvSpPr>
          <p:nvPr>
            <p:ph idx="1"/>
          </p:nvPr>
        </p:nvSpPr>
        <p:spPr/>
        <p:txBody>
          <a:bodyPr>
            <a:normAutofit/>
          </a:bodyPr>
          <a:lstStyle/>
          <a:p>
            <a:r>
              <a:rPr lang="en-GB" sz="2000" dirty="0"/>
              <a:t>In order to protect accidental deletion, we can set termination protection on an EC2 Instance. This is an added layer of protection for critical EC2 instance. </a:t>
            </a:r>
            <a:endParaRPr lang="en-IN" sz="2000" dirty="0"/>
          </a:p>
        </p:txBody>
      </p:sp>
      <p:pic>
        <p:nvPicPr>
          <p:cNvPr id="4" name="Picture 3">
            <a:extLst>
              <a:ext uri="{FF2B5EF4-FFF2-40B4-BE49-F238E27FC236}">
                <a16:creationId xmlns:a16="http://schemas.microsoft.com/office/drawing/2014/main" id="{CFAB9F04-1482-4787-AF9A-99A2FC840DA7}"/>
              </a:ext>
            </a:extLst>
          </p:cNvPr>
          <p:cNvPicPr/>
          <p:nvPr/>
        </p:nvPicPr>
        <p:blipFill>
          <a:blip r:embed="rId2"/>
          <a:stretch>
            <a:fillRect/>
          </a:stretch>
        </p:blipFill>
        <p:spPr>
          <a:xfrm>
            <a:off x="2382984" y="2578831"/>
            <a:ext cx="7426032" cy="3311037"/>
          </a:xfrm>
          <a:prstGeom prst="rect">
            <a:avLst/>
          </a:prstGeom>
        </p:spPr>
      </p:pic>
    </p:spTree>
    <p:extLst>
      <p:ext uri="{BB962C8B-B14F-4D97-AF65-F5344CB8AC3E}">
        <p14:creationId xmlns:p14="http://schemas.microsoft.com/office/powerpoint/2010/main" val="6881105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5CD6B-670B-4B77-AAE8-EC3F3AF05200}"/>
              </a:ext>
            </a:extLst>
          </p:cNvPr>
          <p:cNvSpPr>
            <a:spLocks noGrp="1"/>
          </p:cNvSpPr>
          <p:nvPr>
            <p:ph type="title"/>
          </p:nvPr>
        </p:nvSpPr>
        <p:spPr/>
        <p:txBody>
          <a:bodyPr>
            <a:normAutofit/>
          </a:bodyPr>
          <a:lstStyle/>
          <a:p>
            <a:r>
              <a:rPr lang="en-GB" sz="4000" b="1" dirty="0"/>
              <a:t>Run Commands on Your EC2 Instance at Launch </a:t>
            </a:r>
            <a:endParaRPr lang="en-IN" sz="4000" b="1" dirty="0"/>
          </a:p>
        </p:txBody>
      </p:sp>
      <p:sp>
        <p:nvSpPr>
          <p:cNvPr id="3" name="Content Placeholder 2">
            <a:extLst>
              <a:ext uri="{FF2B5EF4-FFF2-40B4-BE49-F238E27FC236}">
                <a16:creationId xmlns:a16="http://schemas.microsoft.com/office/drawing/2014/main" id="{D332C14C-46A6-4655-8C07-FE87586A602C}"/>
              </a:ext>
            </a:extLst>
          </p:cNvPr>
          <p:cNvSpPr>
            <a:spLocks noGrp="1"/>
          </p:cNvSpPr>
          <p:nvPr>
            <p:ph idx="1"/>
          </p:nvPr>
        </p:nvSpPr>
        <p:spPr/>
        <p:txBody>
          <a:bodyPr>
            <a:normAutofit/>
          </a:bodyPr>
          <a:lstStyle/>
          <a:p>
            <a:r>
              <a:rPr lang="en-GB" sz="2400" dirty="0"/>
              <a:t>You can do this using </a:t>
            </a:r>
            <a:r>
              <a:rPr lang="en-GB" sz="2400" dirty="0" err="1"/>
              <a:t>Userdata</a:t>
            </a:r>
            <a:r>
              <a:rPr lang="en-GB" sz="2400" dirty="0"/>
              <a:t> section. Just pass a script in the </a:t>
            </a:r>
            <a:r>
              <a:rPr lang="en-GB" sz="2400" dirty="0" err="1"/>
              <a:t>userdata</a:t>
            </a:r>
            <a:r>
              <a:rPr lang="en-GB" sz="2400" dirty="0"/>
              <a:t> box Tab 3 during the launch process.</a:t>
            </a:r>
            <a:endParaRPr lang="en-IN" sz="2400" dirty="0"/>
          </a:p>
        </p:txBody>
      </p:sp>
      <p:pic>
        <p:nvPicPr>
          <p:cNvPr id="5" name="Picture 4">
            <a:extLst>
              <a:ext uri="{FF2B5EF4-FFF2-40B4-BE49-F238E27FC236}">
                <a16:creationId xmlns:a16="http://schemas.microsoft.com/office/drawing/2014/main" id="{D7A2D059-88BC-489B-A35E-EEE8388E41DD}"/>
              </a:ext>
            </a:extLst>
          </p:cNvPr>
          <p:cNvPicPr>
            <a:picLocks noChangeAspect="1"/>
          </p:cNvPicPr>
          <p:nvPr/>
        </p:nvPicPr>
        <p:blipFill>
          <a:blip r:embed="rId2"/>
          <a:stretch>
            <a:fillRect/>
          </a:stretch>
        </p:blipFill>
        <p:spPr>
          <a:xfrm>
            <a:off x="1794437" y="2620963"/>
            <a:ext cx="8603126" cy="3871912"/>
          </a:xfrm>
          <a:prstGeom prst="rect">
            <a:avLst/>
          </a:prstGeom>
        </p:spPr>
      </p:pic>
    </p:spTree>
    <p:extLst>
      <p:ext uri="{BB962C8B-B14F-4D97-AF65-F5344CB8AC3E}">
        <p14:creationId xmlns:p14="http://schemas.microsoft.com/office/powerpoint/2010/main" val="32960680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78082-2919-4640-9404-BADEFDED5612}"/>
              </a:ext>
            </a:extLst>
          </p:cNvPr>
          <p:cNvSpPr>
            <a:spLocks noGrp="1"/>
          </p:cNvSpPr>
          <p:nvPr>
            <p:ph type="title"/>
          </p:nvPr>
        </p:nvSpPr>
        <p:spPr/>
        <p:txBody>
          <a:bodyPr/>
          <a:lstStyle/>
          <a:p>
            <a:r>
              <a:rPr lang="en-GB" b="1" dirty="0"/>
              <a:t>Roles: Add permissions to EC2</a:t>
            </a:r>
            <a:endParaRPr lang="en-IN" b="1" dirty="0"/>
          </a:p>
        </p:txBody>
      </p:sp>
      <p:sp>
        <p:nvSpPr>
          <p:cNvPr id="3" name="Content Placeholder 2">
            <a:extLst>
              <a:ext uri="{FF2B5EF4-FFF2-40B4-BE49-F238E27FC236}">
                <a16:creationId xmlns:a16="http://schemas.microsoft.com/office/drawing/2014/main" id="{8DCA29E1-1E99-4ED3-BC06-7D2BA338D8D9}"/>
              </a:ext>
            </a:extLst>
          </p:cNvPr>
          <p:cNvSpPr>
            <a:spLocks noGrp="1"/>
          </p:cNvSpPr>
          <p:nvPr>
            <p:ph idx="1"/>
          </p:nvPr>
        </p:nvSpPr>
        <p:spPr/>
        <p:txBody>
          <a:bodyPr/>
          <a:lstStyle/>
          <a:p>
            <a:pPr marL="0" indent="0">
              <a:lnSpc>
                <a:spcPct val="150000"/>
              </a:lnSpc>
              <a:buNone/>
            </a:pPr>
            <a:r>
              <a:rPr lang="en-GB" sz="2000" dirty="0"/>
              <a:t>You can’t access other AWS resources from your EC2 instance by default. You need to either</a:t>
            </a:r>
          </a:p>
          <a:p>
            <a:pPr>
              <a:lnSpc>
                <a:spcPct val="150000"/>
              </a:lnSpc>
            </a:pPr>
            <a:r>
              <a:rPr lang="en-GB" sz="2000" b="1" dirty="0"/>
              <a:t>hard code credentials</a:t>
            </a:r>
            <a:r>
              <a:rPr lang="en-GB" sz="2000" dirty="0"/>
              <a:t>( access key id and secret access key) somewhere in the code or in a file which is not recommended. </a:t>
            </a:r>
          </a:p>
          <a:p>
            <a:pPr>
              <a:lnSpc>
                <a:spcPct val="150000"/>
              </a:lnSpc>
            </a:pPr>
            <a:r>
              <a:rPr lang="en-GB" sz="2000" dirty="0"/>
              <a:t>Attach Roles with proper permissions to EC2 . This way you can access services like S3 , </a:t>
            </a:r>
            <a:r>
              <a:rPr lang="en-GB" sz="2000" dirty="0" err="1"/>
              <a:t>dynamoDB</a:t>
            </a:r>
            <a:r>
              <a:rPr lang="en-GB" sz="2000" dirty="0"/>
              <a:t> etc from EC2 . This is safer because </a:t>
            </a:r>
            <a:r>
              <a:rPr lang="en-GB" sz="2000" b="1" dirty="0"/>
              <a:t>Roles use temporary credentials.</a:t>
            </a:r>
            <a:endParaRPr lang="en-IN" sz="2000" b="1" dirty="0"/>
          </a:p>
        </p:txBody>
      </p:sp>
    </p:spTree>
    <p:extLst>
      <p:ext uri="{BB962C8B-B14F-4D97-AF65-F5344CB8AC3E}">
        <p14:creationId xmlns:p14="http://schemas.microsoft.com/office/powerpoint/2010/main" val="1355238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49DCBDF-D4E3-4C66-839D-E15DE9E07A29}"/>
              </a:ext>
            </a:extLst>
          </p:cNvPr>
          <p:cNvPicPr>
            <a:picLocks noChangeAspect="1"/>
          </p:cNvPicPr>
          <p:nvPr/>
        </p:nvPicPr>
        <p:blipFill>
          <a:blip r:embed="rId2"/>
          <a:stretch>
            <a:fillRect/>
          </a:stretch>
        </p:blipFill>
        <p:spPr>
          <a:xfrm>
            <a:off x="991783" y="889488"/>
            <a:ext cx="10208433" cy="5079023"/>
          </a:xfrm>
          <a:prstGeom prst="rect">
            <a:avLst/>
          </a:prstGeom>
        </p:spPr>
      </p:pic>
    </p:spTree>
    <p:extLst>
      <p:ext uri="{BB962C8B-B14F-4D97-AF65-F5344CB8AC3E}">
        <p14:creationId xmlns:p14="http://schemas.microsoft.com/office/powerpoint/2010/main" val="28798786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8798D-64B0-488F-84F5-A9F43D780311}"/>
              </a:ext>
            </a:extLst>
          </p:cNvPr>
          <p:cNvSpPr>
            <a:spLocks noGrp="1"/>
          </p:cNvSpPr>
          <p:nvPr>
            <p:ph type="title"/>
          </p:nvPr>
        </p:nvSpPr>
        <p:spPr/>
        <p:txBody>
          <a:bodyPr/>
          <a:lstStyle/>
          <a:p>
            <a:r>
              <a:rPr lang="en-IN" b="1" dirty="0"/>
              <a:t>Interfaces to ec2 </a:t>
            </a:r>
          </a:p>
        </p:txBody>
      </p:sp>
      <p:sp>
        <p:nvSpPr>
          <p:cNvPr id="3" name="Content Placeholder 2">
            <a:extLst>
              <a:ext uri="{FF2B5EF4-FFF2-40B4-BE49-F238E27FC236}">
                <a16:creationId xmlns:a16="http://schemas.microsoft.com/office/drawing/2014/main" id="{6E16C06D-E50F-4DEC-AB97-275A707584B9}"/>
              </a:ext>
            </a:extLst>
          </p:cNvPr>
          <p:cNvSpPr>
            <a:spLocks noGrp="1"/>
          </p:cNvSpPr>
          <p:nvPr>
            <p:ph idx="1"/>
          </p:nvPr>
        </p:nvSpPr>
        <p:spPr/>
        <p:txBody>
          <a:bodyPr/>
          <a:lstStyle/>
          <a:p>
            <a:pPr marL="0" indent="0">
              <a:buNone/>
            </a:pPr>
            <a:r>
              <a:rPr lang="en-GB" b="1" dirty="0"/>
              <a:t>You can interface with EC2 resources using the following mediums:</a:t>
            </a:r>
          </a:p>
          <a:p>
            <a:pPr>
              <a:lnSpc>
                <a:spcPct val="150000"/>
              </a:lnSpc>
            </a:pPr>
            <a:r>
              <a:rPr lang="en-IN" sz="2000" dirty="0"/>
              <a:t>AWS Management console  </a:t>
            </a:r>
          </a:p>
          <a:p>
            <a:pPr>
              <a:lnSpc>
                <a:spcPct val="150000"/>
              </a:lnSpc>
            </a:pPr>
            <a:r>
              <a:rPr lang="en-IN" sz="2000" dirty="0"/>
              <a:t>AWS CLI </a:t>
            </a:r>
          </a:p>
          <a:p>
            <a:pPr>
              <a:lnSpc>
                <a:spcPct val="150000"/>
              </a:lnSpc>
            </a:pPr>
            <a:r>
              <a:rPr lang="en-IN" sz="2000" dirty="0"/>
              <a:t>AWS </a:t>
            </a:r>
            <a:r>
              <a:rPr lang="en-IN" sz="2000" dirty="0" err="1"/>
              <a:t>Cloudformation</a:t>
            </a:r>
            <a:r>
              <a:rPr lang="en-IN" sz="2000" dirty="0"/>
              <a:t> </a:t>
            </a:r>
          </a:p>
          <a:p>
            <a:pPr>
              <a:lnSpc>
                <a:spcPct val="150000"/>
              </a:lnSpc>
            </a:pPr>
            <a:r>
              <a:rPr lang="en-IN" sz="2000" dirty="0"/>
              <a:t>AWS SDK(boto,node.js, java etc) </a:t>
            </a:r>
          </a:p>
          <a:p>
            <a:pPr>
              <a:lnSpc>
                <a:spcPct val="150000"/>
              </a:lnSpc>
            </a:pPr>
            <a:r>
              <a:rPr lang="en-IN" sz="2000" dirty="0"/>
              <a:t>AWS REST API</a:t>
            </a:r>
            <a:endParaRPr lang="en-IN" sz="2000" b="1" dirty="0"/>
          </a:p>
        </p:txBody>
      </p:sp>
    </p:spTree>
    <p:extLst>
      <p:ext uri="{BB962C8B-B14F-4D97-AF65-F5344CB8AC3E}">
        <p14:creationId xmlns:p14="http://schemas.microsoft.com/office/powerpoint/2010/main" val="42547360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2456</TotalTime>
  <Words>917</Words>
  <Application>Microsoft Office PowerPoint</Application>
  <PresentationFormat>Widescreen</PresentationFormat>
  <Paragraphs>82</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Wingdings</vt:lpstr>
      <vt:lpstr>Office Theme</vt:lpstr>
      <vt:lpstr>AWS EC2</vt:lpstr>
      <vt:lpstr>EC2 Service Let’s you create virtual machines on AWS</vt:lpstr>
      <vt:lpstr>Features of Amazon EC2</vt:lpstr>
      <vt:lpstr>In order to create an ec2 instance , we have to have an AMI </vt:lpstr>
      <vt:lpstr>Types of AMI:</vt:lpstr>
      <vt:lpstr>Amazon Linux AMI</vt:lpstr>
      <vt:lpstr>You need certain things/components to successfully launch an EC2 and log into it </vt:lpstr>
      <vt:lpstr>EC2 Lifecycle</vt:lpstr>
      <vt:lpstr>There are 2 kinds of EC2 Storage </vt:lpstr>
      <vt:lpstr>EC2 Pricing Model</vt:lpstr>
      <vt:lpstr>When an EC2 instance Is stopped</vt:lpstr>
      <vt:lpstr>EC2 Public IP address and Elastic IP </vt:lpstr>
      <vt:lpstr>Termination Protection: Easy to launch , easy to destroy </vt:lpstr>
      <vt:lpstr>Run Commands on Your EC2 Instance at Launch </vt:lpstr>
      <vt:lpstr>Roles: Add permissions to EC2</vt:lpstr>
      <vt:lpstr>PowerPoint Presentation</vt:lpstr>
      <vt:lpstr>Interfaces to ec2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AWS EC2</dc:title>
  <dc:creator>rickhaha123@outlook.com</dc:creator>
  <cp:lastModifiedBy>rickhaha123@outlook.com</cp:lastModifiedBy>
  <cp:revision>14</cp:revision>
  <dcterms:created xsi:type="dcterms:W3CDTF">2020-12-03T11:35:26Z</dcterms:created>
  <dcterms:modified xsi:type="dcterms:W3CDTF">2020-12-05T04:31:31Z</dcterms:modified>
</cp:coreProperties>
</file>